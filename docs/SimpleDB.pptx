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7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0EDC09-B0D7-2CF3-61AC-6EF378AC5108}" v="174" dt="2026-06-06T16:45:13.949"/>
    <p1510:client id="{315BEDE2-3FB5-BC85-38E7-CE1F3CEA24B9}" v="750" dt="2026-06-07T13:04:29.246"/>
    <p1510:client id="{DF211176-EB99-259C-23B6-85BDDFE708B1}" v="1" dt="2026-06-06T16:39:06.0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0"/>
            <a:ext cx="11247120" cy="6771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3800" b="0" dirty="0" err="1">
                <a:latin typeface="Calibri"/>
              </a:rPr>
              <a:t>期末報告</a:t>
            </a:r>
            <a:endParaRPr lang="en-US" sz="3800" b="0"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2303368"/>
            <a:ext cx="11247120" cy="7386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4200" dirty="0" err="1">
                <a:latin typeface="Microsoft JhengHei"/>
                <a:ea typeface="Microsoft JhengHei"/>
              </a:rPr>
              <a:t>simpledb</a:t>
            </a:r>
            <a:endParaRPr lang="en-US" sz="4200" dirty="0" err="1">
              <a:latin typeface="Microsoft JhengHei"/>
              <a:ea typeface="Microsoft JhengHe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65147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22222"/>
                </a:solidFill>
                <a:latin typeface="Calibri"/>
              </a:rPr>
              <a:t>A relational database engine built from scratch in C
SQL subset  ·  B-Tree indexing  ·  Data persistence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49FED0-7DE4-ACDF-ADD0-8C5162AB4699}"/>
              </a:ext>
            </a:extLst>
          </p:cNvPr>
          <p:cNvSpPr txBox="1"/>
          <p:nvPr/>
        </p:nvSpPr>
        <p:spPr>
          <a:xfrm>
            <a:off x="7520216" y="5372699"/>
            <a:ext cx="32718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400" dirty="0">
                <a:latin typeface="Microsoft JhengHei"/>
                <a:ea typeface="Microsoft JhengHei"/>
                <a:cs typeface="Calibri"/>
              </a:rPr>
              <a:t>組員</a:t>
            </a:r>
            <a:r>
              <a:rPr lang="en-US" altLang="ja-JP" sz="2400" dirty="0">
                <a:latin typeface="Microsoft JhengHei"/>
                <a:ea typeface="Microsoft JhengHei"/>
                <a:cs typeface="Calibri"/>
              </a:rPr>
              <a:t>: </a:t>
            </a:r>
            <a:r>
              <a:rPr lang="en-US" altLang="ja-JP" sz="2400" dirty="0" err="1">
                <a:latin typeface="Microsoft JhengHei"/>
                <a:ea typeface="Microsoft JhengHei"/>
                <a:cs typeface="Calibri"/>
              </a:rPr>
              <a:t>陳達偉</a:t>
            </a:r>
            <a:r>
              <a:rPr lang="en-US" altLang="ja-JP" sz="2400" dirty="0">
                <a:latin typeface="Microsoft JhengHei"/>
                <a:ea typeface="Microsoft JhengHei"/>
                <a:cs typeface="Calibri"/>
              </a:rPr>
              <a:t>， </a:t>
            </a:r>
            <a:r>
              <a:rPr lang="en-US" altLang="ja-JP" sz="2400" dirty="0" err="1">
                <a:latin typeface="Microsoft JhengHei"/>
                <a:ea typeface="Microsoft JhengHei"/>
                <a:cs typeface="Calibri"/>
              </a:rPr>
              <a:t>孫義廷</a:t>
            </a:r>
            <a:endParaRPr lang="en-US" altLang="ja-JP" sz="2400" dirty="0">
              <a:latin typeface="Microsoft JhengHei"/>
              <a:ea typeface="Microsoft JhengHe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6FC869-442B-8445-F648-A565BC80539C}"/>
              </a:ext>
            </a:extLst>
          </p:cNvPr>
          <p:cNvSpPr txBox="1"/>
          <p:nvPr/>
        </p:nvSpPr>
        <p:spPr>
          <a:xfrm>
            <a:off x="457200" y="228600"/>
            <a:ext cx="11247120" cy="6155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400" b="1">
                <a:latin typeface="Calibri"/>
                <a:ea typeface="Calibri"/>
                <a:cs typeface="Calibri"/>
              </a:rPr>
              <a:t>Table of </a:t>
            </a:r>
            <a:r>
              <a:rPr lang="en-US" sz="3400" b="1">
                <a:latin typeface="Microsoft JhengHei"/>
                <a:ea typeface="Microsoft JhengHei"/>
                <a:cs typeface="Calibri"/>
              </a:rPr>
              <a:t>contents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7CD079-3509-AA40-1FCA-D9DB232A6AC2}"/>
              </a:ext>
            </a:extLst>
          </p:cNvPr>
          <p:cNvSpPr txBox="1"/>
          <p:nvPr/>
        </p:nvSpPr>
        <p:spPr>
          <a:xfrm>
            <a:off x="458753" y="1070847"/>
            <a:ext cx="4600726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14350" indent="-514350">
              <a:buAutoNum type="arabicPeriod"/>
            </a:pPr>
            <a:r>
              <a:rPr lang="en-US" sz="2800">
                <a:latin typeface="Microsoft JhengHei"/>
                <a:ea typeface="Microsoft JhengHei"/>
                <a:cs typeface="Calibri"/>
              </a:rPr>
              <a:t>Modules</a:t>
            </a:r>
            <a:endParaRPr lang="en-US" sz="2800">
              <a:ea typeface="Calibri"/>
              <a:cs typeface="Calibri"/>
            </a:endParaRPr>
          </a:p>
          <a:p>
            <a:pPr marL="514350" indent="-514350">
              <a:buAutoNum type="arabicPeriod"/>
            </a:pPr>
            <a:r>
              <a:rPr lang="en-US" sz="2800">
                <a:latin typeface="Microsoft JhengHei"/>
                <a:ea typeface="Microsoft JhengHei"/>
                <a:cs typeface="Calibri"/>
              </a:rPr>
              <a:t>Dependency</a:t>
            </a:r>
          </a:p>
          <a:p>
            <a:pPr marL="514350" indent="-514350">
              <a:buAutoNum type="arabicPeriod"/>
            </a:pPr>
            <a:r>
              <a:rPr lang="en-US" sz="2800">
                <a:latin typeface="Microsoft JhengHei"/>
                <a:ea typeface="Microsoft JhengHei"/>
                <a:cs typeface="Calibri"/>
              </a:rPr>
              <a:t>Data Structure</a:t>
            </a:r>
          </a:p>
          <a:p>
            <a:pPr marL="971550" lvl="1" indent="-514350">
              <a:buFont typeface="Arial"/>
              <a:buChar char="•"/>
            </a:pPr>
            <a:r>
              <a:rPr lang="en-US" sz="2800">
                <a:latin typeface="24"/>
                <a:ea typeface="Microsoft JhengHei"/>
                <a:cs typeface="Calibri"/>
              </a:rPr>
              <a:t>Page</a:t>
            </a:r>
          </a:p>
          <a:p>
            <a:pPr marL="971550" lvl="1" indent="-514350">
              <a:buFont typeface="Arial"/>
              <a:buChar char="•"/>
            </a:pPr>
            <a:r>
              <a:rPr lang="en-US" sz="2800">
                <a:latin typeface="24"/>
                <a:ea typeface="Microsoft JhengHei"/>
                <a:cs typeface="Calibri"/>
              </a:rPr>
              <a:t>Pager</a:t>
            </a:r>
            <a:endParaRPr lang="en-US" sz="2800">
              <a:latin typeface="24"/>
              <a:ea typeface="Calibri"/>
              <a:cs typeface="Calibri"/>
            </a:endParaRPr>
          </a:p>
          <a:p>
            <a:pPr marL="971550" lvl="1" indent="-514350">
              <a:buFont typeface="Arial"/>
              <a:buChar char="•"/>
            </a:pPr>
            <a:r>
              <a:rPr lang="en-US" sz="2800">
                <a:latin typeface="24"/>
                <a:ea typeface="Microsoft JhengHei"/>
                <a:cs typeface="Calibri"/>
              </a:rPr>
              <a:t>Cursor</a:t>
            </a:r>
          </a:p>
          <a:p>
            <a:pPr marL="971550" lvl="1" indent="-514350">
              <a:buFont typeface="Arial"/>
              <a:buChar char="•"/>
            </a:pPr>
            <a:r>
              <a:rPr lang="en-US" sz="2800">
                <a:latin typeface="24"/>
                <a:ea typeface="Microsoft JhengHei"/>
                <a:cs typeface="Calibri"/>
              </a:rPr>
              <a:t>B+ Tree</a:t>
            </a:r>
          </a:p>
          <a:p>
            <a:pPr marL="514350" indent="-514350">
              <a:buAutoNum type="arabicPeriod"/>
            </a:pPr>
            <a:r>
              <a:rPr lang="en-US" sz="2800">
                <a:latin typeface="Microsoft JhengHei"/>
                <a:ea typeface="Microsoft JhengHei"/>
                <a:cs typeface="Calibri"/>
              </a:rPr>
              <a:t> How it works</a:t>
            </a:r>
          </a:p>
          <a:p>
            <a:pPr marL="514350" indent="-514350">
              <a:buAutoNum type="arabicPeriod"/>
            </a:pPr>
            <a:r>
              <a:rPr lang="en-US" sz="2800">
                <a:latin typeface="Microsoft JhengHei"/>
                <a:ea typeface="Microsoft JhengHei"/>
                <a:cs typeface="Calibri"/>
              </a:rPr>
              <a:t> Demo</a:t>
            </a:r>
            <a:endParaRPr lang="en-US" sz="2800" dirty="0">
              <a:latin typeface="Microsoft JhengHei"/>
              <a:ea typeface="Microsoft JhengHe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28638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6155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3400" b="1">
                <a:latin typeface="Microsoft JhengHei"/>
                <a:ea typeface="Microsoft JhengHei"/>
              </a:rPr>
              <a:t>Modules</a:t>
            </a:r>
            <a:endParaRPr lang="en-US" sz="3400" b="1">
              <a:latin typeface="Microsoft JhengHei"/>
              <a:ea typeface="Microsoft JhengHe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icrosoft JhengHei"/>
                <a:ea typeface="Microsoft JhengHei"/>
              </a:rPr>
              <a:t>REPL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1097280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Microsoft JhengHei"/>
                <a:ea typeface="Microsoft JhengHei"/>
              </a:rPr>
              <a:t>Read-Eval-Print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55648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icrosoft JhengHei"/>
                <a:ea typeface="Microsoft JhengHei"/>
              </a:rPr>
              <a:t>Executor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755648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Microsoft JhengHei"/>
                <a:ea typeface="Microsoft JhengHei"/>
              </a:rPr>
              <a:t>INSERT / SELECT / UPDATE / DELETE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14016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icrosoft JhengHei"/>
                <a:ea typeface="Microsoft JhengHei"/>
              </a:rPr>
              <a:t>B-Tree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414016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Microsoft JhengHei"/>
                <a:ea typeface="Microsoft JhengHei"/>
              </a:rPr>
              <a:t>index, search, split / merge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72384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icrosoft JhengHei"/>
                <a:ea typeface="Microsoft JhengHei"/>
              </a:rPr>
              <a:t>Cursor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072384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Microsoft JhengHei"/>
                <a:ea typeface="Microsoft JhengHei"/>
              </a:rPr>
              <a:t>B-Tree position pointer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30752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icrosoft JhengHei"/>
                <a:ea typeface="Microsoft JhengHei"/>
              </a:rPr>
              <a:t>Pager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730752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Microsoft JhengHei"/>
                <a:ea typeface="Microsoft JhengHei"/>
              </a:rPr>
              <a:t>Memory Page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icrosoft JhengHei"/>
                <a:ea typeface="Microsoft JhengHei"/>
              </a:rPr>
              <a:t>Row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389120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Microsoft JhengHei"/>
                <a:ea typeface="Microsoft JhengHei"/>
              </a:rPr>
              <a:t>serialize / deserialize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47488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icrosoft JhengHei"/>
                <a:ea typeface="Microsoft JhengHei"/>
              </a:rPr>
              <a:t>Catalog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5047488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Microsoft JhengHei"/>
                <a:ea typeface="Microsoft JhengHei"/>
              </a:rPr>
              <a:t>table schema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3200" b="1">
                <a:latin typeface="Microsoft JhengHei"/>
                <a:ea typeface="Microsoft JhengHei"/>
              </a:rPr>
              <a:t>Dependency</a:t>
            </a:r>
            <a:endParaRPr lang="en-US" sz="3200" b="1">
              <a:latin typeface="Microsoft JhengHei"/>
              <a:ea typeface="Microsoft Jheng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47120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3000">
                <a:solidFill>
                  <a:srgbClr val="000000"/>
                </a:solidFill>
                <a:latin typeface="Microsoft JhengHei"/>
                <a:ea typeface="Microsoft JhengHei"/>
              </a:rPr>
              <a:t>REPL  →  Executor  →  B-Tree  →  Pager  →  disk</a:t>
            </a:r>
            <a:endParaRPr lang="en-US" sz="3000">
              <a:solidFill>
                <a:srgbClr val="000000"/>
              </a:solidFill>
              <a:latin typeface="Microsoft JhengHei"/>
              <a:ea typeface="Microsoft JhengHei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6155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Microsoft JhengHei"/>
                <a:ea typeface="Microsoft JhengHei"/>
              </a:rPr>
              <a:t>Page</a:t>
            </a:r>
            <a:endParaRPr lang="en-US" sz="3400" b="1">
              <a:solidFill>
                <a:srgbClr val="000000"/>
              </a:solidFill>
              <a:latin typeface="Microsoft JhengHei"/>
              <a:ea typeface="Microsoft JhengHei"/>
              <a:cs typeface="Calibri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67CC4E5-C24A-DC13-2752-2C2EAE161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694" y="1063792"/>
            <a:ext cx="3835276" cy="57894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371D35-D552-3E7D-1D28-3A8F71251265}"/>
              </a:ext>
            </a:extLst>
          </p:cNvPr>
          <p:cNvSpPr txBox="1"/>
          <p:nvPr/>
        </p:nvSpPr>
        <p:spPr>
          <a:xfrm>
            <a:off x="5596489" y="4571890"/>
            <a:ext cx="6094412" cy="17235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0" i="0" u="none" strike="noStrike" baseline="0" dirty="0">
                <a:solidFill>
                  <a:srgbClr val="000000"/>
                </a:solidFill>
                <a:latin typeface="Microsoft JhengHei"/>
                <a:ea typeface="Microsoft JhengHei"/>
                <a:cs typeface="Courier New"/>
              </a:rPr>
              <a:t>users: id INT(4) + name TEXT(64) + age INT(4) = 72 bytes</a:t>
            </a:r>
            <a:r>
              <a:rPr sz="2200" dirty="0">
                <a:solidFill>
                  <a:srgbClr val="000000"/>
                </a:solidFill>
                <a:latin typeface="Microsoft JhengHei"/>
                <a:ea typeface="Microsoft JhengHei"/>
                <a:cs typeface="Courier New"/>
              </a:rPr>
              <a:t>​</a:t>
            </a:r>
            <a:br>
              <a:rPr sz="2200" dirty="0">
                <a:latin typeface="Microsoft JhengHei"/>
                <a:ea typeface="Microsoft JhengHei"/>
                <a:cs typeface="Courier New"/>
              </a:rPr>
            </a:br>
            <a:r>
              <a:rPr lang="en-US" sz="2200" b="0" i="0" u="none" strike="noStrike" baseline="0" dirty="0" err="1">
                <a:solidFill>
                  <a:srgbClr val="000000"/>
                </a:solidFill>
                <a:latin typeface="Microsoft JhengHei"/>
                <a:ea typeface="Microsoft JhengHei"/>
                <a:cs typeface="Courier New"/>
              </a:rPr>
              <a:t>cell_size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Microsoft JhengHei"/>
                <a:ea typeface="Microsoft JhengHei"/>
                <a:cs typeface="Courier New"/>
              </a:rPr>
              <a:t> = key(4) + row(72) = 76 bytes</a:t>
            </a:r>
            <a:r>
              <a:rPr sz="2200" dirty="0">
                <a:solidFill>
                  <a:srgbClr val="000000"/>
                </a:solidFill>
                <a:latin typeface="Microsoft JhengHei"/>
                <a:ea typeface="Microsoft JhengHei"/>
                <a:cs typeface="Courier New"/>
              </a:rPr>
              <a:t>​</a:t>
            </a:r>
            <a:br>
              <a:rPr sz="2200" dirty="0">
                <a:latin typeface="Microsoft JhengHei"/>
                <a:ea typeface="Microsoft JhengHei"/>
                <a:cs typeface="Courier New"/>
              </a:rPr>
            </a:br>
            <a:r>
              <a:rPr lang="en-US" sz="2200" b="0" i="0" u="none" strike="noStrike" baseline="0" dirty="0" err="1">
                <a:solidFill>
                  <a:srgbClr val="000000"/>
                </a:solidFill>
                <a:latin typeface="Microsoft JhengHei"/>
                <a:ea typeface="Microsoft JhengHei"/>
                <a:cs typeface="Courier New"/>
              </a:rPr>
              <a:t>max_cells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Microsoft JhengHei"/>
                <a:ea typeface="Microsoft JhengHei"/>
                <a:cs typeface="Courier New"/>
              </a:rPr>
              <a:t> = (4096 - 14) / 76 = 53</a:t>
            </a:r>
            <a:endParaRPr lang="en-US" dirty="0">
              <a:solidFill>
                <a:srgbClr val="000000"/>
              </a:solidFill>
              <a:latin typeface="Microsoft JhengHei"/>
              <a:ea typeface="Microsoft JhengHei"/>
            </a:endParaRPr>
          </a:p>
          <a:p>
            <a:pPr algn="ctr"/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6155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3400" b="1">
                <a:latin typeface="Microsoft JhengHei"/>
                <a:ea typeface="Microsoft JhengHei"/>
              </a:rPr>
              <a:t>Pager</a:t>
            </a:r>
          </a:p>
        </p:txBody>
      </p:sp>
      <p:pic>
        <p:nvPicPr>
          <p:cNvPr id="3" name="Picture 2" descr="ChatGPT Image Jun 7, 2026, 12_24_18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316" y="1005840"/>
            <a:ext cx="7132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6155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3400" b="1">
                <a:latin typeface="Microsoft JhengHei"/>
                <a:ea typeface="Microsoft JhengHei"/>
              </a:rPr>
              <a:t>Cursor</a:t>
            </a:r>
            <a:endParaRPr lang="en-US" sz="3400" b="1">
              <a:latin typeface="Microsoft JhengHei"/>
              <a:ea typeface="Microsoft JhengHei"/>
            </a:endParaRPr>
          </a:p>
        </p:txBody>
      </p:sp>
      <p:pic>
        <p:nvPicPr>
          <p:cNvPr id="3" name="Picture 2" descr="ChatGPT Image Jun 7, 2026, 12_25_38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316" y="1005840"/>
            <a:ext cx="7132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6155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3400" b="1">
                <a:latin typeface="Microsoft JhengHei"/>
                <a:ea typeface="Microsoft JhengHei"/>
              </a:rPr>
              <a:t>B+ Tree</a:t>
            </a:r>
            <a:endParaRPr lang="en-US" sz="3400" b="1">
              <a:latin typeface="Microsoft JhengHei"/>
              <a:ea typeface="Microsoft JhengHei"/>
            </a:endParaRPr>
          </a:p>
        </p:txBody>
      </p:sp>
      <p:pic>
        <p:nvPicPr>
          <p:cNvPr id="3" name="Picture 2" descr="ChatGPT Image Jun 7, 2026, 12_26_08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8436" y="1005840"/>
            <a:ext cx="5212080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754880"/>
            <a:ext cx="10332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Microsoft JhengHei"/>
                <a:ea typeface="Microsoft JhengHei"/>
              </a:rPr>
              <a:t>• internal node — routing key only, decides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38928"/>
            <a:ext cx="10332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Microsoft JhengHei"/>
                <a:ea typeface="Microsoft JhengHei"/>
              </a:rPr>
              <a:t>• leaf node     — stores row data, linked list between leaves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22976"/>
            <a:ext cx="10332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Microsoft JhengHei"/>
                <a:ea typeface="Microsoft JhengHei"/>
              </a:rPr>
              <a:t>• search: O(log n)   ·   full scan: walk leaf linked list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Microsoft JhengHei"/>
                <a:ea typeface="Microsoft JhengHei"/>
              </a:rPr>
              <a:t>How it works — Insert 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icrosoft JhengHei"/>
                <a:ea typeface="Microsoft JhengHei"/>
              </a:rPr>
              <a:t>1. Tokenize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91056"/>
            <a:ext cx="10789920" cy="9387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char *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tok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 = </a:t>
            </a:r>
            <a:r>
              <a:rPr lang="en-US" sz="1100" b="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strtok</a:t>
            </a:r>
            <a:r>
              <a:rPr lang="en-US" sz="1100" b="0" dirty="0">
                <a:solidFill>
                  <a:srgbClr val="000000"/>
                </a:solidFill>
                <a:latin typeface="Microsoft JhengHei"/>
                <a:ea typeface="Microsoft JhengHei"/>
              </a:rPr>
              <a:t>(</a:t>
            </a:r>
            <a:r>
              <a:rPr lang="en-US" sz="1100" b="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buf</a:t>
            </a:r>
            <a:r>
              <a:rPr lang="en-US" sz="1100" b="0" dirty="0">
                <a:solidFill>
                  <a:srgbClr val="000000"/>
                </a:solidFill>
                <a:latin typeface="Microsoft JhengHei"/>
                <a:ea typeface="Microsoft JhengHei"/>
              </a:rPr>
              <a:t>, " \t\r\n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");
while (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tok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 &amp;&amp; n &lt; MAX_TOKENS) {
    </a:t>
            </a:r>
            <a:r>
              <a:rPr lang="en-US" sz="1100" b="0" dirty="0">
                <a:solidFill>
                  <a:srgbClr val="000000"/>
                </a:solidFill>
                <a:latin typeface="Microsoft JhengHei"/>
                <a:ea typeface="Microsoft JhengHei"/>
              </a:rPr>
              <a:t>tokens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[n++] = 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tok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;
    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tok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 = 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strtok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(NULL, " \t\r\n");
}</a:t>
            </a:r>
            <a:endParaRPr lang="en-US" dirty="0">
              <a:solidFill>
                <a:srgbClr val="000000"/>
              </a:solidFill>
              <a:latin typeface="Microsoft JhengHei"/>
              <a:ea typeface="Microsoft Jheng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48505" y="2655079"/>
            <a:ext cx="1124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icrosoft JhengHei"/>
                <a:ea typeface="Microsoft JhengHei"/>
              </a:rPr>
              <a:t>2. table_open → catalog lookup → malloc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705" y="3057415"/>
            <a:ext cx="10789920" cy="9387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Table *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table_open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(Database *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db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, const char *name) {
    const int 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idx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 = </a:t>
            </a:r>
            <a:r>
              <a:rPr lang="en-US" sz="1100" b="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catalog_find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(&amp;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db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-&gt;catalog, name);
    Table *t = </a:t>
            </a:r>
            <a:r>
              <a:rPr lang="en-US" sz="1100" b="0" dirty="0">
                <a:solidFill>
                  <a:srgbClr val="000000"/>
                </a:solidFill>
                <a:latin typeface="Microsoft JhengHei"/>
                <a:ea typeface="Microsoft JhengHei"/>
              </a:rPr>
              <a:t>malloc(</a:t>
            </a:r>
            <a:r>
              <a:rPr lang="en-US" sz="1100" b="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sizeof</a:t>
            </a:r>
            <a:r>
              <a:rPr lang="en-US" sz="1100" b="0" dirty="0">
                <a:solidFill>
                  <a:srgbClr val="000000"/>
                </a:solidFill>
                <a:latin typeface="Microsoft JhengHei"/>
                <a:ea typeface="Microsoft JhengHei"/>
              </a:rPr>
              <a:t>(Table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));
    t-&gt;meta = &amp;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db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-&gt;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catalog.tables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[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idx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];</a:t>
            </a:r>
            <a:endParaRPr lang="en-US" dirty="0">
              <a:solidFill>
                <a:srgbClr val="000000"/>
              </a:solidFill>
              <a:latin typeface="Microsoft JhengHei"/>
              <a:ea typeface="Microsoft JhengHei"/>
              <a:cs typeface="Calibri"/>
            </a:endParaRPr>
          </a:p>
          <a:p>
            <a:r>
              <a:rPr lang="en-US" sz="1100">
                <a:solidFill>
                  <a:srgbClr val="000000"/>
                </a:solidFill>
                <a:latin typeface="Microsoft JhengHei"/>
                <a:ea typeface="Microsoft JhengHei"/>
              </a:rPr>
              <a:t>}</a:t>
            </a:r>
            <a:endParaRPr lang="en-US">
              <a:solidFill>
                <a:srgbClr val="000000"/>
              </a:solidFill>
              <a:latin typeface="Microsoft JhengHei"/>
              <a:ea typeface="Microsoft Jheng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4591" y="4095345"/>
            <a:ext cx="1124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icrosoft JhengHei"/>
                <a:ea typeface="Microsoft JhengHei"/>
              </a:rPr>
              <a:t>3. Compute page layout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1791" y="4497681"/>
            <a:ext cx="10789920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t-&gt;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cell_size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 = LEAF_NODE_KEY_SIZE + t-&gt;meta-&gt;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row_size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;
t-&gt;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max_cells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 = (PAGE_SIZE - LEAF_NODE_HEADER_SIZE) / t-&gt;</a:t>
            </a:r>
            <a:r>
              <a:rPr lang="en-US" sz="1100" b="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cell_size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;
t-&gt;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right_split_count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 = (t-&gt;</a:t>
            </a:r>
            <a:r>
              <a:rPr lang="en-US" sz="1100" b="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max_cells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 + 1) / 2;
t-&gt;</a:t>
            </a:r>
            <a:r>
              <a:rPr lang="en-US" sz="1100" b="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left_split_count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  = (t-&gt;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max_cells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 + 1) - t-&gt;</a:t>
            </a:r>
            <a:r>
              <a:rPr lang="en-US" sz="1100" b="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right_split_count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;</a:t>
            </a:r>
            <a:endParaRPr lang="en-US" dirty="0">
              <a:solidFill>
                <a:srgbClr val="000000"/>
              </a:solidFill>
              <a:latin typeface="Microsoft JhengHei"/>
              <a:ea typeface="Microsoft Jheng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Microsoft JhengHei"/>
                <a:ea typeface="Microsoft JhengHei"/>
              </a:rPr>
              <a:t>How it works — Insert 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6379" y="875612"/>
            <a:ext cx="1124712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Microsoft JhengHei"/>
                <a:ea typeface="Microsoft JhengHei"/>
              </a:rPr>
              <a:t>4. table_find → recursive + binary search → Cursor</a:t>
            </a:r>
            <a:endParaRPr lang="en-US">
              <a:solidFill>
                <a:srgbClr val="000000"/>
              </a:solidFill>
              <a:latin typeface="Microsoft JhengHei"/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1656" y="1277948"/>
            <a:ext cx="10789920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endParaRPr lang="en-US" sz="800" dirty="0">
              <a:solidFill>
                <a:srgbClr val="000000"/>
              </a:solidFill>
              <a:latin typeface="Microsoft JhengHei"/>
              <a:ea typeface="Microsoft JhengHei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// recursive
if (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get</a:t>
            </a:r>
            <a:r>
              <a:rPr lang="en-US" sz="1100" b="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_node_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type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(child) == NODE_LEAF)
    return </a:t>
            </a:r>
            <a:r>
              <a:rPr lang="en-US" sz="1100" b="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leaf_node_find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(table, 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child_</a:t>
            </a:r>
            <a:r>
              <a:rPr lang="en-US" sz="1100" b="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page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, key);
return 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internal_node_find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(table, 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child</a:t>
            </a:r>
            <a:r>
              <a:rPr lang="en-US" sz="1100" b="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_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page</a:t>
            </a:r>
            <a:r>
              <a:rPr lang="en-US" sz="1100" b="0" dirty="0">
                <a:solidFill>
                  <a:srgbClr val="000000"/>
                </a:solidFill>
                <a:latin typeface="Microsoft JhengHei"/>
                <a:ea typeface="Microsoft JhengHei"/>
              </a:rPr>
              <a:t>, 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key);
// binary search
while (lo &lt; hi) {
    const uint32_t mid = (lo + hi) / 2;
    const uint32_t k = *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leaf_node</a:t>
            </a:r>
            <a:r>
              <a:rPr lang="en-US" sz="1100" b="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_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key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(table, node, mid);
    if (key &lt; k) hi = mid;
    else         lo = mid + 1;
</a:t>
            </a:r>
            <a:r>
              <a:rPr lang="en-US" sz="1100" b="0" dirty="0">
                <a:solidFill>
                  <a:srgbClr val="000000"/>
                </a:solidFill>
                <a:latin typeface="Microsoft JhengHei"/>
                <a:ea typeface="Microsoft JhengHei"/>
              </a:rPr>
              <a:t>}</a:t>
            </a:r>
            <a:endParaRPr lang="en-US" dirty="0">
              <a:solidFill>
                <a:srgbClr val="000000"/>
              </a:solidFill>
              <a:latin typeface="Microsoft JhengHei"/>
              <a:ea typeface="Microsoft Jheng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7612" y="3646589"/>
            <a:ext cx="1124712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800" b="1" dirty="0">
                <a:solidFill>
                  <a:srgbClr val="000000"/>
                </a:solidFill>
                <a:latin typeface="Microsoft JhengHei"/>
                <a:ea typeface="Microsoft JhengHei"/>
              </a:rPr>
              <a:t>5. Shift cells, write at cursor position, update </a:t>
            </a:r>
            <a:r>
              <a:rPr sz="1800" b="1" dirty="0" err="1">
                <a:solidFill>
                  <a:srgbClr val="000000"/>
                </a:solidFill>
                <a:latin typeface="Microsoft JhengHei"/>
                <a:ea typeface="Microsoft JhengHei"/>
              </a:rPr>
              <a:t>num_cells</a:t>
            </a:r>
            <a:endParaRPr lang="en-US" dirty="0" err="1">
              <a:solidFill>
                <a:srgbClr val="000000"/>
              </a:solidFill>
              <a:latin typeface="Microsoft JhengHei"/>
              <a:ea typeface="Microsoft Jheng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2889" y="4048925"/>
            <a:ext cx="10789920" cy="12772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for (uint32_t 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 = 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num_cells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; 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 &gt; cursor-&gt;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cell_num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; --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)
    </a:t>
            </a:r>
            <a:r>
              <a:rPr lang="en-US" sz="1100" b="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memcpy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leaf_node_cell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(table, node, 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),
           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leaf_node_cell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(table, node, 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 - 1),
           cursor-&gt;table-&gt;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cell_size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);
*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leaf_node</a:t>
            </a:r>
            <a:r>
              <a:rPr lang="en-US" sz="1100" b="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_num_cells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(node)</a:t>
            </a:r>
            <a:r>
              <a:rPr lang="en-US" sz="1100" b="0" dirty="0">
                <a:solidFill>
                  <a:srgbClr val="000000"/>
                </a:solidFill>
                <a:latin typeface="Microsoft JhengHei"/>
                <a:ea typeface="Microsoft JhengHei"/>
              </a:rPr>
              <a:t> += 1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;
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memcpy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leaf_node_value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(table, node, cursor-&gt;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cell_num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),
       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row_data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, cursor-&gt;table-&gt;meta-&gt;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row_size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);</a:t>
            </a:r>
            <a:endParaRPr lang="en-US" dirty="0">
              <a:solidFill>
                <a:srgbClr val="000000"/>
              </a:solidFill>
              <a:latin typeface="Microsoft JhengHei"/>
              <a:ea typeface="Microsoft Jheng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1088" y="5443451"/>
            <a:ext cx="1124712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Microsoft JhengHei"/>
                <a:ea typeface="Microsoft JhengHei"/>
              </a:rPr>
              <a:t>6. Mark dirty, flush on .exit</a:t>
            </a:r>
            <a:endParaRPr lang="en-US">
              <a:solidFill>
                <a:srgbClr val="000000"/>
              </a:solidFill>
              <a:latin typeface="Microsoft JhengHei"/>
              <a:ea typeface="Microsoft Jheng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7215" y="5845787"/>
            <a:ext cx="10789920" cy="892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endParaRPr lang="en-US" sz="800" dirty="0">
              <a:solidFill>
                <a:srgbClr val="000000"/>
              </a:solidFill>
              <a:latin typeface="Microsoft JhengHei"/>
              <a:ea typeface="Microsoft JhengHei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for (int 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 = 0; 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 &lt; MAX</a:t>
            </a:r>
            <a:r>
              <a:rPr lang="en-US" sz="1100" b="0" dirty="0">
                <a:solidFill>
                  <a:srgbClr val="000000"/>
                </a:solidFill>
                <a:latin typeface="Microsoft JhengHei"/>
                <a:ea typeface="Microsoft JhengHei"/>
              </a:rPr>
              <a:t>_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PAGES; ++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) {
    if (pager-&gt;pages[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] &amp;&amp; pager-&gt;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is</a:t>
            </a:r>
            <a:r>
              <a:rPr lang="en-US" sz="1100" b="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_dirty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[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])
        </a:t>
            </a:r>
            <a:r>
              <a:rPr lang="en-US" sz="1100" b="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pager_flush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(pager, </a:t>
            </a:r>
            <a:r>
              <a:rPr lang="en-US" sz="1100" dirty="0" err="1">
                <a:solidFill>
                  <a:srgbClr val="000000"/>
                </a:solidFill>
                <a:latin typeface="Microsoft JhengHei"/>
                <a:ea typeface="Microsoft JhengHei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Microsoft JhengHei"/>
                <a:ea typeface="Microsoft JhengHei"/>
              </a:rPr>
              <a:t>);
}</a:t>
            </a:r>
            <a:endParaRPr dirty="0">
              <a:solidFill>
                <a:srgbClr val="000000"/>
              </a:solidFill>
              <a:latin typeface="Microsoft JhengHei"/>
              <a:ea typeface="Microsoft Jheng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5C4F7F-4077-2C1C-BC24-1D30356DCB80}"/>
              </a:ext>
            </a:extLst>
          </p:cNvPr>
          <p:cNvSpPr txBox="1"/>
          <p:nvPr/>
        </p:nvSpPr>
        <p:spPr>
          <a:xfrm>
            <a:off x="2799441" y="2578919"/>
            <a:ext cx="6552207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4800" b="1">
                <a:latin typeface="Microsoft JhengHei"/>
                <a:ea typeface="Microsoft JhengHei"/>
                <a:cs typeface="Calibri"/>
              </a:rPr>
              <a:t>報告完畢，感謝聆聽！</a:t>
            </a:r>
            <a:r>
              <a:rPr lang="en-US" sz="4800" b="1" dirty="0">
                <a:latin typeface="Microsoft JhengHei"/>
                <a:ea typeface="Microsoft JhengHei"/>
                <a:cs typeface="Calibri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598511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189</cp:revision>
  <dcterms:created xsi:type="dcterms:W3CDTF">2013-01-27T09:14:16Z</dcterms:created>
  <dcterms:modified xsi:type="dcterms:W3CDTF">2026-06-07T13:04:55Z</dcterms:modified>
  <cp:category/>
</cp:coreProperties>
</file>